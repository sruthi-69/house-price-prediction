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114800" cy="4114800"/>
          </a:xfrm>
          <a:prstGeom prst="ellipse">
            <a:avLst/>
          </a:prstGeom>
          <a:solidFill>
            <a:srgbClr val="22335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30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INTERNSHIP PROGRAM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155448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Linear Regression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22335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355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Innovation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0" y="32461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223357"/>
          </a:solidFill>
          <a:ln/>
        </p:spPr>
      </p:sp>
      <p:sp>
        <p:nvSpPr>
          <p:cNvPr id="11" name="Text 8"/>
          <p:cNvSpPr/>
          <p:nvPr/>
        </p:nvSpPr>
        <p:spPr>
          <a:xfrm>
            <a:off x="4343400" y="3355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43400" y="36301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with ML &amp; AI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89520" y="32461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223357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33558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18120" y="36301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315968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C15B3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315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PROJECT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8620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•  Pandas  •  Data Science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5074920"/>
            <a:ext cx="10911535" cy="18288"/>
          </a:xfrm>
          <a:prstGeom prst="rect">
            <a:avLst/>
          </a:prstGeom>
          <a:solidFill>
            <a:srgbClr val="3A4A7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Sruthi E 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0080" y="56692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RCE24CS069  |  Computer Science and Engineering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59618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College of Engineering and Technology  •  Batch 2024–2028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Solving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87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predicts the market price of a house based on its physical attributes — area, bedrooms, bathrooms, stories, and parking availability — using Linear Regression.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4846320" cy="0"/>
          </a:xfrm>
          <a:prstGeom prst="line">
            <a:avLst/>
          </a:prstGeom>
          <a:noFill/>
          <a:ln w="12700">
            <a:solidFill>
              <a:srgbClr val="DCD2C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49560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buyers and sellers make data-driven pricing decisions instead of relying on guesswork or asking prices alone.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21488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Area, Bedrooms, Bathrooms,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Stories, Parking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208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numeric features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3252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15B3C"/>
                </a:solidFill>
              </a:rPr>
              <a:t>↓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400800" y="4160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C15B3C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6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20840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House Price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20840" y="5212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numeric estimate (₹)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Six-Step Story of the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25603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Dataset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Housing.csv with pandas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5112" y="2286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2514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4553712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5603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3712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Clean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53712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shape, dtypes, nulls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01584" y="2286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0184" y="2514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5"/>
          <p:cNvSpPr/>
          <p:nvPr/>
        </p:nvSpPr>
        <p:spPr>
          <a:xfrm>
            <a:off x="8330184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25603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0184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30184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&amp; histogram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572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0"/>
          <p:cNvSpPr/>
          <p:nvPr/>
        </p:nvSpPr>
        <p:spPr>
          <a:xfrm>
            <a:off x="7772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84632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" y="5440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77240" y="5806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 20% test (seed 42)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25112" y="4572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53712" y="4800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5"/>
          <p:cNvSpPr/>
          <p:nvPr/>
        </p:nvSpPr>
        <p:spPr>
          <a:xfrm>
            <a:off x="4553712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4846320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53712" y="5440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553712" y="5806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 Regression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101584" y="4572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330184" y="48006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0"/>
          <p:cNvSpPr/>
          <p:nvPr/>
        </p:nvSpPr>
        <p:spPr>
          <a:xfrm>
            <a:off x="8330184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224" y="4846320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30184" y="5440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Predict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330184" y="5806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MSE + new prediction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Housing.csv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explored using the </a:t>
            </a:r>
            <a:pPr indent="0" marL="0">
              <a:buNone/>
            </a:pPr>
            <a:r>
              <a:rPr lang="en-US" sz="1350" b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pPr indent="0" marL="0"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 in Python — a core Machine Learning workflow skill.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(entries)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23317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0632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3317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5778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4041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Used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88036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20" name="Text 17"/>
          <p:cNvSpPr/>
          <p:nvPr/>
        </p:nvSpPr>
        <p:spPr>
          <a:xfrm>
            <a:off x="288036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21208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51206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5120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880360" y="51206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26" name="Text 23"/>
          <p:cNvSpPr/>
          <p:nvPr/>
        </p:nvSpPr>
        <p:spPr>
          <a:xfrm>
            <a:off x="2880360" y="5120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212080" y="51206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DE6DA"/>
          </a:solidFill>
          <a:ln/>
        </p:spPr>
      </p:sp>
      <p:sp>
        <p:nvSpPr>
          <p:cNvPr id="28" name="Text 25"/>
          <p:cNvSpPr/>
          <p:nvPr/>
        </p:nvSpPr>
        <p:spPr>
          <a:xfrm>
            <a:off x="5212080" y="5120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(target)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863840" y="2331720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F7F4EF"/>
          </a:solidFill>
          <a:ln/>
        </p:spPr>
      </p:sp>
      <p:sp>
        <p:nvSpPr>
          <p:cNvPr id="30" name="Text 27"/>
          <p:cNvSpPr/>
          <p:nvPr/>
        </p:nvSpPr>
        <p:spPr>
          <a:xfrm>
            <a:off x="813816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Includes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38160" y="28346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mainroad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guestroom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hotwaterheating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airconditioning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prefarea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furnishingstatus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 Price Distribution</a:t>
            </a:r>
            <a:endParaRPr lang="en-US" sz="2700" dirty="0"/>
          </a:p>
        </p:txBody>
      </p:sp>
      <p:pic>
        <p:nvPicPr>
          <p:cNvPr id="5" name="Image 0" descr="imgs/heatmap_new.jp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5120640" cy="3017520"/>
          </a:xfrm>
          <a:prstGeom prst="rect">
            <a:avLst/>
          </a:prstGeom>
        </p:spPr>
      </p:pic>
      <p:pic>
        <p:nvPicPr>
          <p:cNvPr id="6" name="Image 1" descr="imgs/hist_new.jp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5166360"/>
            <a:ext cx="5120640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210312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F7F4EF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3172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66560" y="2359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Insights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263640" y="28803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↔ Price: 0.54 — strongest correlation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 ↔ Price: 0.52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↔ Price: 0.42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↔ Price: 0.35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↔ Price: 0.37 — weakest of the five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263640" y="4709160"/>
            <a:ext cx="5120640" cy="0"/>
          </a:xfrm>
          <a:prstGeom prst="line">
            <a:avLst/>
          </a:prstGeom>
          <a:noFill/>
          <a:ln w="12700">
            <a:solidFill>
              <a:srgbClr val="DCD2C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263640" y="4864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263640" y="52303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right-skewed — most houses fall in the lower-to-mid price range (roughly ₹20L–₹50L), with fewer high-value outliers above ₹1 crore.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Linear Regression?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1762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Interpretable Baseline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bathrooms, stories, and parking show a roughly linear relationship with price. Linear Regression establishes this relationship directly and is fast to train and easy to evaluate.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840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model for continuous prediction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5312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44074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linear relationship between features and price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005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9743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train, easy to evaluate with standard metrics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8698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55412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 before trying more complex algorithms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400800" y="21488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37744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Split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66751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80% of data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66751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set: 20% of data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6751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400800" y="416052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F7F4E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38912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132320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Inputs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667512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(scikit-learn)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667512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Features: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67512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bathrooms, stories, parking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C15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54.64%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(R²)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148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0.546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33756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48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₹11.27L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12648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3134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₹15.14L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91540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0927080" cy="2240280"/>
          </a:xfrm>
          <a:prstGeom prst="roundRect">
            <a:avLst>
              <a:gd name="adj" fmla="val 3265"/>
            </a:avLst>
          </a:prstGeom>
          <a:solidFill>
            <a:srgbClr val="F7F4EF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06240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24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96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about 54.6% of the variance in house prices using area, bedrooms, bathrooms, stories, and parking.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predictions are off by about ₹11.27 lakh (MAE), with an RMSE of ₹15.14 lakh.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features (location, furnishing status, amenities) could further improve accuracy.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vs. Predicted Price</a:t>
            </a:r>
            <a:endParaRPr lang="en-US" sz="2800" dirty="0"/>
          </a:p>
        </p:txBody>
      </p:sp>
      <p:pic>
        <p:nvPicPr>
          <p:cNvPr id="5" name="Image 0" descr="imgs/scatter_clean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56692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2103120"/>
            <a:ext cx="5166360" cy="2514600"/>
          </a:xfrm>
          <a:prstGeom prst="roundRect">
            <a:avLst>
              <a:gd name="adj" fmla="val 2909"/>
            </a:avLst>
          </a:prstGeom>
          <a:solidFill>
            <a:srgbClr val="F7F4E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31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Graph Shows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766560" y="283464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blue dot is one house from the test set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dashed line marks perfect prediction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near the line indicate accurate predictions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Higher-priced houses show more scatter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92240" y="480060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</p:sp>
      <p:sp>
        <p:nvSpPr>
          <p:cNvPr id="11" name="Text 7"/>
          <p:cNvSpPr/>
          <p:nvPr/>
        </p:nvSpPr>
        <p:spPr>
          <a:xfrm>
            <a:off x="676656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66560" y="52303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1000 sq.ft   Bedrooms: 1   Bathrooms: 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Stories: 1   Parking: 1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766560" y="5852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PRICE:  ₹ 37,16,338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Skills Required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591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926080"/>
            <a:ext cx="237744" cy="237744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43584" y="28620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43584" y="31272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bathrooms, and stories are inter-correlated, making each feature's true effect harder to isolate.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3675888"/>
            <a:ext cx="237744" cy="237744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675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43584" y="3611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 set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43584" y="387705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numeric features were used; categorical factors like location and furnishing were left out.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4425696"/>
            <a:ext cx="237744" cy="237744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425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243584" y="43616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price distribution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43584" y="462686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high-value outlier homes pulled the distribution right and increased error at the top end.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5175504"/>
            <a:ext cx="237744" cy="237744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175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243584" y="51114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accuracy (R² 0.546)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43584" y="5376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only captures straight-line relationships — real pricing has non-linear effects it misses.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55080" y="210312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59152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3232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Required</a:t>
            </a:r>
            <a:endParaRPr lang="en-US" sz="16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88036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2834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675120" y="32095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syntax, functions, data structures</a:t>
            </a:r>
            <a:endParaRPr lang="en-US" sz="9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288036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36608" y="2834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070848" y="32095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cleaning, manipulating data</a:t>
            </a:r>
            <a:endParaRPr lang="en-US" sz="9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931920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40880" y="3886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6675120" y="4261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and distribution plots</a:t>
            </a:r>
            <a:endParaRPr lang="en-US" sz="95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8" y="393192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436608" y="3886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9070848" y="4261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training the model</a:t>
            </a:r>
            <a:endParaRPr lang="en-US" sz="95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983480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040880" y="4937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Basics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6675120" y="53126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R², MAE, and RMSE</a:t>
            </a:r>
            <a:endParaRPr lang="en-US" sz="95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498348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436608" y="4937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9070848" y="53126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patterns, debugging results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31375" y="4297680"/>
            <a:ext cx="3657600" cy="3657600"/>
          </a:xfrm>
          <a:prstGeom prst="ellipse">
            <a:avLst/>
          </a:prstGeom>
          <a:solidFill>
            <a:srgbClr val="2233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4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End-to-End ML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3134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Loaded, explored, and cleaned housing data using Pandas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266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correlation analysis and visualization with Seaborn &amp; Matplotlib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7398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trained a Linear Regression model with scikit-learn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453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model performance using R², MAE, and RMSE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184648"/>
            <a:ext cx="457200" cy="457200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166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applying ML to a real-world prediction problem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| Linear Regression Project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23357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114800" cy="411480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21031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Linear Regression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using Linear Regression</dc:title>
  <dc:subject>PptxGenJS Presentation</dc:subject>
  <dc:creator>Sruthi E S</dc:creator>
  <cp:lastModifiedBy>Sruthi E S</cp:lastModifiedBy>
  <cp:revision>1</cp:revision>
  <dcterms:created xsi:type="dcterms:W3CDTF">2026-07-07T03:22:38Z</dcterms:created>
  <dcterms:modified xsi:type="dcterms:W3CDTF">2026-07-07T03:22:38Z</dcterms:modified>
</cp:coreProperties>
</file>